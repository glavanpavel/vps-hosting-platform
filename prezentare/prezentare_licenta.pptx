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5B4FC"/>
                </a:solidFill>
                <a:latin typeface="Calibri"/>
              </a:rPr>
              <a:t>Universitatea Tehnică „Gheorghe Asachi” din Iași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5B4FC"/>
                </a:solidFill>
                <a:latin typeface="Calibri"/>
              </a:rPr>
              <a:t>Facultatea de Automatică și Calculatoare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8961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Platformă de provizionare și management VPS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A5B4FC"/>
                </a:solidFill>
                <a:latin typeface="Calibri"/>
              </a:rPr>
              <a:t>Proiect de diplomă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18CF8"/>
                </a:solidFill>
                <a:latin typeface="Calibri"/>
              </a:rPr>
              <a:t>Absolvent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Pavel GLAVAN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534924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18CF8"/>
                </a:solidFill>
                <a:latin typeface="Calibri"/>
              </a:rPr>
              <a:t>Coordonator științific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șef lucr. dr. ing. Silviu Dumitru PAVĂL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E1B4B"/>
                </a:solidFill>
                <a:latin typeface="Calibri"/>
              </a:rPr>
              <a:t>Cuprins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5285232" cy="1298448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19" y="1874519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508760"/>
            <a:ext cx="402336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Problema adresată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285232" cy="1298448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0" y="1874519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08760"/>
            <a:ext cx="402336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Soluții existente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81528"/>
            <a:ext cx="5285232" cy="1298448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19" y="3447288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081528"/>
            <a:ext cx="402336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Soluția propusă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81528"/>
            <a:ext cx="5285232" cy="1298448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3447288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081528"/>
            <a:ext cx="402336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Rezultate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54296"/>
            <a:ext cx="5285232" cy="1298448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19" y="5020056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654296"/>
            <a:ext cx="402336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Utilizarea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654296"/>
            <a:ext cx="5285232" cy="1298448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5020056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654296"/>
            <a:ext cx="402336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Concluzii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818CF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Problema adresată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5B4FC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OpenStack: puternic, dar complex pentru utilizatorul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08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 Cloud privat open-source — control complet asupra resurselor de calcul, rețea și stocare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 Interfața nativă (Horizon) este gândită pentru operatori de sistem, nu pentru utilizatori finali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Pașii manuali pentru a lansa un singur server: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08960"/>
            <a:ext cx="149047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Rețea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4268" y="3364992"/>
            <a:ext cx="228600" cy="32918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86584" y="3108960"/>
            <a:ext cx="149047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Subrețea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90772" y="3364992"/>
            <a:ext cx="228600" cy="32918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33087" y="3108960"/>
            <a:ext cx="149047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Ruter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37275" y="3364992"/>
            <a:ext cx="228600" cy="32918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79592" y="3108960"/>
            <a:ext cx="149047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Grup de securitate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83779" y="3364992"/>
            <a:ext cx="228600" cy="32918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6096" y="3108960"/>
            <a:ext cx="149047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Cheie SSH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30284" y="3364992"/>
            <a:ext cx="228600" cy="32918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72600" y="3108960"/>
            <a:ext cx="1490472" cy="86868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64748B"/>
                </a:solidFill>
                <a:latin typeface="Calibri"/>
              </a:rPr>
              <a:t>„Utilizatorul vrea, de fapt, un singur lucru: un server funcțional.”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Soluția propusă: middleware „One-Click Deploy”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3108960" cy="21031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Formular simplu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nume · sistem de operare · flavor · cheie SSH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13632" y="2971800"/>
            <a:ext cx="502920" cy="36576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874519"/>
            <a:ext cx="3063240" cy="25603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PLATFORMA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traduce cererea în orchestrare automată a infrastructurii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2400" y="2971800"/>
            <a:ext cx="502920" cy="36576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30768" y="2103120"/>
            <a:ext cx="3108960" cy="21031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OpenStack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Nova · Neutron · Glance · Cinder · Keystone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64748B"/>
                </a:solidFill>
                <a:latin typeface="Calibri"/>
              </a:rPr>
              <a:t>Experiența unui cloud comercial — pe infrastructură proprie.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818CF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Soluții existente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5B4FC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Peisajul actual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85232" cy="13716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90472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AWS EC2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granularitate maximă, dar complexitate și costuri ridicate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285232" cy="13716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490472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DigitalOcean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simplitate exemplară, dar exclusiv cloud public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5285232" cy="13716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OpenStack 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interfața nativă — destinată operatorilor de sistem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926080"/>
            <a:ext cx="5285232" cy="13716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090672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Fleio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panou comercial peste OpenStack, cod închis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908792" cy="9601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Lacuna acoperită de lucrare: un middleware open-source, simplu, pentru cloud-uri private OpenStack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818CF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Soluția propusă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5B4FC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Arhitectura: decuplată și orientată pe evenimente</a:t>
            </a:r>
          </a:p>
        </p:txBody>
      </p:sp>
      <p:pic>
        <p:nvPicPr>
          <p:cNvPr id="3" name="Picture 2" descr="fu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911" y="1170432"/>
            <a:ext cx="5973697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5332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API-ul răspunde imediat — execuția aparține proceselor de fundal (Celery).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Patru reguli de aur ale arhitecturii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285232" cy="17373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39" y="1691640"/>
            <a:ext cx="4069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1B4B"/>
                </a:solidFill>
                <a:latin typeface="Calibri"/>
              </a:rPr>
              <a:t>API-ul doar citește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nu apelează niciodată OpenStack SDK — răspunde din bazele de date proprii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85232" cy="17373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37960" y="1984248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91640"/>
            <a:ext cx="4069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1B4B"/>
                </a:solidFill>
                <a:latin typeface="Calibri"/>
              </a:rPr>
              <a:t>Celery deține infrastructura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toate apelurile SDK rulează exclusiv în procesele de fundal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5285232" cy="17373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50208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3657600"/>
            <a:ext cx="4069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1B4B"/>
                </a:solidFill>
                <a:latin typeface="Calibri"/>
              </a:rPr>
              <a:t>Evenimente de domeniu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serviciile emit evenimente — nu au cunoștință de existența Celery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383280"/>
            <a:ext cx="5285232" cy="17373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3950208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657600"/>
            <a:ext cx="4069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E1B4B"/>
                </a:solidFill>
                <a:latin typeface="Calibri"/>
              </a:rPr>
              <a:t>Rețea de tip VPC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rețele private izolate per organizație; IP-uri publice dintr-un bazin extern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4748B"/>
                </a:solidFill>
                <a:latin typeface="Calibri"/>
              </a:rPr>
              <a:t>Cererea este separată de execuție — de aici receptivitatea și reziliența.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Fluxul asincron de provizionare</a:t>
            </a:r>
          </a:p>
        </p:txBody>
      </p:sp>
      <p:pic>
        <p:nvPicPr>
          <p:cNvPr id="3" name="Picture 2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946" y="1234440"/>
            <a:ext cx="8029626" cy="3886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5440680"/>
            <a:ext cx="3520440" cy="7772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562813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5440680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API-ul confirmă imediat (201)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440680"/>
            <a:ext cx="3520440" cy="7772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0288" y="562813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5440680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Workerul creează serverul prin Nova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5440680"/>
            <a:ext cx="3520440" cy="7772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39327" y="562813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7" y="5440680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Starea BUILD → ACTIVE, prin polling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Reconcilierea stării — OpenStack, sursa de adevăr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alibri"/>
              </a:rPr>
              <a:t>La fiecare 30 de secunde (Celery Beat):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29384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74519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preia stările tuturor serverelor din Nova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79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sare instanțele aflate în stări tranzitorii — o operațiune locală în curs nu este suprascrisă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032503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977639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aliniază starea din baza de date la starea reală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084064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consemnează tranziția în jurnalul instanței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85232" cy="2240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1B4B"/>
                </a:solidFill>
                <a:latin typeface="Calibri"/>
              </a:rPr>
              <a:t>Ștearsă manual din Horizon?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serverul dispare din Nova → instanța trece în ERROR + eveniment în jurnal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nu dispare silențios — este semnalată și poate fi eliminată din platformă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86200"/>
            <a:ext cx="5285232" cy="1874519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1B4B"/>
                </a:solidFill>
                <a:latin typeface="Calibri"/>
              </a:rPr>
              <a:t>IP flotant orfan?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disociat, nu eliberat — revine reutilizabil în bazinul organizației (model Elastic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Multi-tenant și securitate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618488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81328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E1B4B"/>
                </a:solidFill>
                <a:latin typeface="Calibri"/>
              </a:rPr>
              <a:t>Izolare pe organizații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fiecare interogare este filtrată după organizație — izolare logică multi-tenant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78608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825496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88336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E1B4B"/>
                </a:solidFill>
                <a:latin typeface="Calibri"/>
              </a:rPr>
              <a:t>Control bazat pe roluri (RBAC)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proprietar / membru / administrator de platformă; acțiunile distructive — doar proprietarul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85616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4032504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895344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E1B4B"/>
                </a:solidFill>
                <a:latin typeface="Calibri"/>
              </a:rPr>
              <a:t>Sesiuni JWT în cookie-uri httpOnly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token-uri inaccesibile codului JavaScript; reîmprospătare cu rotație și revocare pe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92624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5239512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102352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E1B4B"/>
                </a:solidFill>
                <a:latin typeface="Calibri"/>
              </a:rPr>
              <a:t>Cote per organizație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limite pentru instanțe, vCPU, RAM, stocare și IP-uri publice — aplicate la creare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818CF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Rezultate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5B4FC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Provizionare validată pe infrastructură reală</a:t>
            </a:r>
          </a:p>
        </p:txBody>
      </p:sp>
      <p:pic>
        <p:nvPicPr>
          <p:cNvPr id="3" name="Picture 2" descr="instance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3862"/>
            <a:ext cx="6949440" cy="48303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1732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Instanță ACTIVE, cu IP privat și IP public alocate automat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88036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Verificare încrucișată: același identificator în „openstack server list”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34340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Jurnal de evenimente propriu fiecărei instanțe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Acces la mașină: SSH și consolă noVNC în browser</a:t>
            </a:r>
          </a:p>
        </p:txBody>
      </p:sp>
      <p:pic>
        <p:nvPicPr>
          <p:cNvPr id="3" name="Picture 2" descr="noV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0574"/>
            <a:ext cx="6949440" cy="455693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1732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Consolă out-of-band — funcționează și fără IP public sau rețea configurată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88036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Cheia SSH este injectată la primul boot — autentificare fără parolă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34340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Apelul Nova rămâne în Celery — API-ul doar livrează URL-ul consolei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Consola de administrare a platformei</a:t>
            </a:r>
          </a:p>
        </p:txBody>
      </p:sp>
      <p:pic>
        <p:nvPicPr>
          <p:cNvPr id="3" name="Picture 2" descr="admin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8634"/>
            <a:ext cx="6949440" cy="45008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1732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Capacitatea reală a clusterului: vCPU, RAM, disc (utilizat · liber)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88036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Organizații și utilizatori din întreaga platformă, cu amprenta de resurse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34340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Cote configurabile per organizație; suspendare și curățare completă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Validare automată: teste end-to-end pe stiva vie</a:t>
            </a:r>
          </a:p>
        </p:txBody>
      </p:sp>
      <p:pic>
        <p:nvPicPr>
          <p:cNvPr id="3" name="Picture 2" descr="pytest-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8669"/>
            <a:ext cx="6949440" cy="49607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417320"/>
            <a:ext cx="3657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4F46E5"/>
                </a:solidFill>
                <a:latin typeface="Calibri"/>
              </a:rPr>
              <a:t>9/9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468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scenarii trecute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310896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pytest prin HTTP, ca un client real — pe cluster OpenStack real, nu simulat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572000"/>
            <a:ext cx="3703320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Lanț complet: cheie → rețea → grup de securitate → lansare → power → ștergere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818C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Utilizarea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5B4FC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Cum am utilizat AI în cadrul proiectului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66160" cy="35661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Dezvoltare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asistent de programare: schelet pentru suita de teste E2E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depanare — ex. diagnoza serviciului nova-compute căzut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revizuire de cod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566160" cy="35661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69164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Documentație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formatare și structurare LaTeX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corectură și reformulări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verificarea coerenței între text și cod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566160" cy="35661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9164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Decizia rămâne umană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arhitectura și deciziile de proiectare îmi aparțin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fiecare sugestie — verificată pe sistemul real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validarea finală: teste pe infrastructură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Calibri"/>
              </a:rPr>
              <a:t>AI — accelerator al lucrului, nu autor al soluției.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818CF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Concluzii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5B4FC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1B4B"/>
                </a:solidFill>
                <a:latin typeface="Calibri"/>
              </a:rPr>
              <a:t>Concluzii și direcții viitoare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Contribuții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85232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Arhitectură decuplată, orientată pe evenimente, validată pe un cluster OpenStack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5285232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Automatizarea completă a ciclului de viață VPS: rețea, stocare, IP-uri, snapshot, consolă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17720"/>
            <a:ext cx="5285232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Model multi-tenant: RBAC, cote configurabile și consolă de administrare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Calibri"/>
              </a:rPr>
              <a:t>Direcții viitoare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285232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Încărcarea directă a imaginilor personalizate (fișier local)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200400"/>
            <a:ext cx="5285232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Izolare la nivel de proiect OpenStack per organizație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5285232" cy="1234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Curățarea periodică a resurselor orfane; desfășurare multi-nod (HA)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08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Mulțumesc pentru atenție!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A5B4FC"/>
                </a:solidFill>
                <a:latin typeface="Calibri"/>
              </a:rPr>
              <a:t>Întrebări?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